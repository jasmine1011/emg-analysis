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8"/>
                </a:solidFill>
              </a:defRPr>
            </a:pPr>
            <a:r>
              <a:t>我们做的不只是分类，而是一条可复盘的肌电分析链路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600200" cy="594360"/>
          </a:xfrm>
          <a:prstGeom prst="roundRect">
            <a:avLst/>
          </a:prstGeom>
          <a:solidFill>
            <a:srgbClr val="245782"/>
          </a:solidFill>
          <a:ln>
            <a:solidFill>
              <a:srgbClr val="245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原始 .mat 信号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40" y="1417320"/>
            <a:ext cx="123444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预处理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417320"/>
            <a:ext cx="1417320" cy="594360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周期检测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1417320"/>
            <a:ext cx="1417320" cy="594360"/>
          </a:xfrm>
          <a:prstGeom prst="roundRect">
            <a:avLst/>
          </a:prstGeom>
          <a:solidFill>
            <a:srgbClr val="245782"/>
          </a:solidFill>
          <a:ln>
            <a:solidFill>
              <a:srgbClr val="245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特征提取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141732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分类模型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417320"/>
            <a:ext cx="1828800" cy="594360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解释与可视化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241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三类肩部动作：前平举、侧平举、推肩</a:t>
            </a:r>
          </a:p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双通道：CH1 三角肌前束，CH2 三角肌中束</a:t>
            </a:r>
          </a:p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输出不只是标签，还包括周期边界、特征表和投票依据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282"/>
                </a:solidFill>
              </a:defRPr>
            </a:pPr>
            <a:r>
              <a:t>双通道 sEMG 动作识别系统 |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8"/>
                </a:solidFill>
              </a:defRPr>
            </a:pPr>
            <a:r>
              <a:t>我们先把连续 EMG 变成一个个完整动作周期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303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预处理：幅值换算、去直流、20 Hz 高通、450 Hz 低通、50 Hz 陷波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事件检测：双通道 RMS 融合包络 + 自适应阈值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周期划分：活动段首尾用阈值交叉，周期之间用峰间谷底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657600"/>
            <a:ext cx="5120640" cy="73152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目标：每个文件自动切出 4-6 个完整动作周期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为什么重要？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周期边界错了，后续特征和分类都会被污染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所以我们把“计数/分割”作为分类前的独立问题处理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282"/>
                </a:solidFill>
              </a:defRPr>
            </a:pPr>
            <a:r>
              <a:t>双通道 sEMG 动作识别系统 |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8"/>
                </a:solidFill>
              </a:defRPr>
            </a:pPr>
            <a:r>
              <a:t>最有解释力的特征，是两块肌肉的协同关系</a:t>
            </a:r>
          </a:p>
        </p:txBody>
      </p:sp>
      <p:pic>
        <p:nvPicPr>
          <p:cNvPr id="3" name="Picture 2" descr="feature_true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6035040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95160" y="1234440"/>
            <a:ext cx="448056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核心特征：CH2/CH1 RMS 与 RMS 主导度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侧平举：中束相对更强，CH2/CH1 &gt; 1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前平举/推肩：前束更强，CH2/CH1 往往 &lt; 1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这也解释了后续错误：推肩会像前平举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282"/>
                </a:solidFill>
              </a:defRPr>
            </a:pPr>
            <a:r>
              <a:t>双通道 sEMG 动作识别系统 |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8"/>
                </a:solidFill>
              </a:defRPr>
            </a:pPr>
            <a:r>
              <a:t>隐藏测试告诉我们：高 Precision 不代表模型已经泛化</a:t>
            </a:r>
          </a:p>
        </p:txBody>
      </p:sp>
      <p:pic>
        <p:nvPicPr>
          <p:cNvPr id="3" name="Picture 2" descr="cm_submi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42976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43000"/>
            <a:ext cx="566928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E2328"/>
                </a:solidFill>
              </a:defRPr>
            </a:pPr>
            <a:r>
              <a:t>Submit1: Precision 0.827，Recall 0.639，F1 0.635</a:t>
            </a:r>
          </a:p>
          <a:p>
            <a:pPr>
              <a:spcAft>
                <a:spcPts val="800"/>
              </a:spcAft>
              <a:defRPr sz="1900">
                <a:solidFill>
                  <a:srgbClr val="1E2328"/>
                </a:solidFill>
              </a:defRPr>
            </a:pPr>
            <a:r>
              <a:t>预测成 2/3 的样本很准</a:t>
            </a:r>
          </a:p>
          <a:p>
            <a:pPr>
              <a:spcAft>
                <a:spcPts val="800"/>
              </a:spcAft>
              <a:defRPr sz="1900">
                <a:solidFill>
                  <a:srgbClr val="1E2328"/>
                </a:solidFill>
              </a:defRPr>
            </a:pPr>
            <a:r>
              <a:t>但真实 2/3 大量被吞到 1</a:t>
            </a:r>
          </a:p>
          <a:p>
            <a:pPr>
              <a:spcAft>
                <a:spcPts val="800"/>
              </a:spcAft>
              <a:defRPr sz="1900">
                <a:solidFill>
                  <a:srgbClr val="1E2328"/>
                </a:solidFill>
              </a:defRPr>
            </a:pPr>
            <a:r>
              <a:t>错误结构：不是 2 和 3 互混，而是 2/3 →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282"/>
                </a:solidFill>
              </a:defRPr>
            </a:pPr>
            <a:r>
              <a:t>双通道 sEMG 动作识别系统 |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8"/>
                </a:solidFill>
              </a:defRPr>
            </a:pPr>
            <a:r>
              <a:t>加入新受试者后，简单稳健模型超过复杂模型</a:t>
            </a:r>
          </a:p>
        </p:txBody>
      </p:sp>
      <p:pic>
        <p:nvPicPr>
          <p:cNvPr id="3" name="Picture 2" descr="f1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852160" cy="329184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20840" y="123444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328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E1E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328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E1E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328"/>
                          </a:solidFill>
                        </a:defRPr>
                      </a:pPr>
                      <a:r>
                        <a:t>关键现象</a:t>
                      </a:r>
                    </a:p>
                  </a:txBody>
                  <a:tcPr>
                    <a:solidFill>
                      <a:srgbClr val="E1E9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Submit1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0.635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保守，高 Precision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With2_LR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0.705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修正部分侧平举漏判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With2_RF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0.625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过度预测侧平举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0.587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E2328"/>
                          </a:solidFill>
                        </a:defRPr>
                      </a:pPr>
                      <a:r>
                        <a:t>简单投票不稳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12280" y="40690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328"/>
                </a:solidFill>
              </a:defRPr>
            </a:pPr>
            <a:r>
              <a:t>结论：小样本 sEMG 中，平滑稳定的边界比复杂模型更可靠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282"/>
                </a:solidFill>
              </a:defRPr>
            </a:pPr>
            <a:r>
              <a:t>双通道 sEMG 动作识别系统 |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8"/>
                </a:solidFill>
              </a:defRPr>
            </a:pPr>
            <a:r>
              <a:t>真正难的是推肩：它在双通道幅值上像前平举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23444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328"/>
                          </a:solidFill>
                        </a:defRPr>
                      </a:pPr>
                      <a:r>
                        <a:t>动作</a:t>
                      </a:r>
                    </a:p>
                  </a:txBody>
                  <a:tcPr>
                    <a:solidFill>
                      <a:srgbClr val="E1E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328"/>
                          </a:solidFill>
                        </a:defRPr>
                      </a:pPr>
                      <a:r>
                        <a:t>CH2/CH1 RMS</a:t>
                      </a:r>
                    </a:p>
                  </a:txBody>
                  <a:tcPr>
                    <a:solidFill>
                      <a:srgbClr val="E1E9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328"/>
                          </a:solidFill>
                        </a:defRPr>
                      </a:pPr>
                      <a:r>
                        <a:t>RMS 主导度</a:t>
                      </a:r>
                    </a:p>
                  </a:txBody>
                  <a:tcPr>
                    <a:solidFill>
                      <a:srgbClr val="E1E9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前平举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0.973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-0.027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侧平举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1.179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0.081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推肩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0.538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328"/>
                          </a:solidFill>
                        </a:defRPr>
                      </a:pPr>
                      <a:r>
                        <a:t>-0.330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1143000"/>
            <a:ext cx="5303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侧平举：CH2/CH1 高，容易靠通道比值识别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推肩：CH2/CH1 低，与前平举同为前束主导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当前整周期幅值特征不足以区分推肩和前平举</a:t>
            </a:r>
          </a:p>
          <a:p>
            <a:pPr>
              <a:spcAft>
                <a:spcPts val="800"/>
              </a:spcAft>
              <a:defRPr sz="1800">
                <a:solidFill>
                  <a:srgbClr val="1E2328"/>
                </a:solidFill>
              </a:defRPr>
            </a:pPr>
            <a:r>
              <a:t>下一步需要包络形态、峰值位置、上升/下降阶段特征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282"/>
                </a:solidFill>
              </a:defRPr>
            </a:pPr>
            <a:r>
              <a:t>双通道 sEMG 动作识别系统 |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8"/>
                </a:solidFill>
              </a:defRPr>
            </a:pPr>
            <a:r>
              <a:t>这个项目的价值在于能运行、能解释、能继续改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80160"/>
            <a:ext cx="2011680" cy="685800"/>
          </a:xfrm>
          <a:prstGeom prst="roundRect">
            <a:avLst/>
          </a:prstGeom>
          <a:solidFill>
            <a:srgbClr val="245782"/>
          </a:solidFill>
          <a:ln>
            <a:solidFill>
              <a:srgbClr val="245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可运行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280160"/>
            <a:ext cx="2011680" cy="685800"/>
          </a:xfrm>
          <a:prstGeom prst="round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可解释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2011680" cy="685800"/>
          </a:xfrm>
          <a:prstGeom prst="roundRect">
            <a:avLst/>
          </a:prstGeom>
          <a:solidFill>
            <a:srgbClr val="F28E2B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可复盘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280160"/>
            <a:ext cx="2011680" cy="685800"/>
          </a:xfrm>
          <a:prstGeom prst="roundRect">
            <a:avLst/>
          </a:prstGeom>
          <a:solidFill>
            <a:srgbClr val="245782"/>
          </a:solidFill>
          <a:ln>
            <a:solidFill>
              <a:srgbClr val="245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可改进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Streamlit Demo：上传 .mat 自动分析</a:t>
            </a:r>
          </a:p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周期边界、特征表、投票结果都能看到</a:t>
            </a:r>
          </a:p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隐藏测试错误能回到信号特征解释</a:t>
            </a:r>
          </a:p>
          <a:p>
            <a:pPr>
              <a:spcAft>
                <a:spcPts val="800"/>
              </a:spcAft>
              <a:defRPr sz="2000">
                <a:solidFill>
                  <a:srgbClr val="1E2328"/>
                </a:solidFill>
              </a:defRPr>
            </a:pPr>
            <a:r>
              <a:t>下一步聚焦推肩的时序/形态特征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282"/>
                </a:solidFill>
              </a:defRPr>
            </a:pPr>
            <a:r>
              <a:t>双通道 sEMG 动作识别系统 |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328"/>
                </a:solidFill>
              </a:defRPr>
            </a:pPr>
            <a:r>
              <a:t>我们的关键收获是：模型错误本身也能提供信号知识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5156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E2328"/>
                </a:solidFill>
              </a:defRPr>
            </a:pPr>
            <a:r>
              <a:t>完成了从 .mat 到动作识别结果的全流程系统</a:t>
            </a:r>
          </a:p>
          <a:p>
            <a:pPr>
              <a:spcAft>
                <a:spcPts val="800"/>
              </a:spcAft>
              <a:defRPr sz="2100">
                <a:solidFill>
                  <a:srgbClr val="1E2328"/>
                </a:solidFill>
              </a:defRPr>
            </a:pPr>
            <a:r>
              <a:t>侧平举主要由 CH2/CH1 激活比值区分</a:t>
            </a:r>
          </a:p>
          <a:p>
            <a:pPr>
              <a:spcAft>
                <a:spcPts val="800"/>
              </a:spcAft>
              <a:defRPr sz="2100">
                <a:solidFill>
                  <a:srgbClr val="1E2328"/>
                </a:solidFill>
              </a:defRPr>
            </a:pPr>
            <a:r>
              <a:t>推肩和前平举在双通道幅值上重叠，是主要瓶颈</a:t>
            </a:r>
          </a:p>
          <a:p>
            <a:pPr>
              <a:spcAft>
                <a:spcPts val="800"/>
              </a:spcAft>
              <a:defRPr sz="2100">
                <a:solidFill>
                  <a:srgbClr val="1E2328"/>
                </a:solidFill>
              </a:defRPr>
            </a:pPr>
            <a:r>
              <a:t>新受试者数据提升泛化，但复杂模型不一定更好</a:t>
            </a:r>
          </a:p>
          <a:p>
            <a:pPr>
              <a:spcAft>
                <a:spcPts val="800"/>
              </a:spcAft>
              <a:defRPr sz="2100">
                <a:solidFill>
                  <a:srgbClr val="1E2328"/>
                </a:solidFill>
              </a:defRPr>
            </a:pPr>
            <a:r>
              <a:t>后续应从“模型更复杂”转向“特征更贴近动作生理”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282"/>
                </a:solidFill>
              </a:defRPr>
            </a:pPr>
            <a:r>
              <a:t>双通道 sEMG 动作识别系统 |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