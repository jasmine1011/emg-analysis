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966960" cy="56692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1C2637"/>
                </a:solidFill>
                <a:latin typeface="Microsoft YaHei UI"/>
              </a:rPr>
              <a:t>我们做的不只是分类，而是一条可复盘的肌电分析链路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78992"/>
            <a:ext cx="1170432" cy="45720"/>
          </a:xfrm>
          <a:prstGeom prst="rect">
            <a:avLst/>
          </a:prstGeom>
          <a:solidFill>
            <a:srgbClr val="DC7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502920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1C2637"/>
                </a:solidFill>
                <a:latin typeface="Microsoft YaHei UI"/>
              </a:rPr>
              <a:t>目标：用双通道 sEMG 识别三类肩部动作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48840"/>
            <a:ext cx="1627632" cy="694944"/>
          </a:xfrm>
          <a:prstGeom prst="roundRect">
            <a:avLst/>
          </a:prstGeom>
          <a:solidFill>
            <a:srgbClr val="1C2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 UI"/>
              </a:rPr>
              <a:t>.mat
原始数据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286000" y="2368296"/>
            <a:ext cx="237744" cy="228600"/>
          </a:xfrm>
          <a:prstGeom prst="rightArrow">
            <a:avLst/>
          </a:prstGeom>
          <a:solidFill>
            <a:srgbClr val="DF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496312" y="2148840"/>
            <a:ext cx="1627632" cy="694944"/>
          </a:xfrm>
          <a:prstGeom prst="roundRect">
            <a:avLst/>
          </a:prstGeom>
          <a:solidFill>
            <a:srgbClr val="117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 UI"/>
              </a:rPr>
              <a:t>预处理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96511" y="2368296"/>
            <a:ext cx="237744" cy="228600"/>
          </a:xfrm>
          <a:prstGeom prst="rightArrow">
            <a:avLst/>
          </a:prstGeom>
          <a:solidFill>
            <a:srgbClr val="DF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06824" y="2148840"/>
            <a:ext cx="1627632" cy="694944"/>
          </a:xfrm>
          <a:prstGeom prst="roundRect">
            <a:avLst/>
          </a:prstGeom>
          <a:solidFill>
            <a:srgbClr val="DC7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 UI"/>
              </a:rPr>
              <a:t>动作周期
检测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907024" y="2368296"/>
            <a:ext cx="237744" cy="228600"/>
          </a:xfrm>
          <a:prstGeom prst="rightArrow">
            <a:avLst/>
          </a:prstGeom>
          <a:solidFill>
            <a:srgbClr val="DF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17336" y="2148840"/>
            <a:ext cx="1627632" cy="694944"/>
          </a:xfrm>
          <a:prstGeom prst="roundRect">
            <a:avLst/>
          </a:prstGeom>
          <a:solidFill>
            <a:srgbClr val="117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 UI"/>
              </a:rPr>
              <a:t>特征提取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717536" y="2368296"/>
            <a:ext cx="237744" cy="228600"/>
          </a:xfrm>
          <a:prstGeom prst="rightArrow">
            <a:avLst/>
          </a:prstGeom>
          <a:solidFill>
            <a:srgbClr val="DF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927848" y="2148840"/>
            <a:ext cx="1627632" cy="694944"/>
          </a:xfrm>
          <a:prstGeom prst="roundRect">
            <a:avLst/>
          </a:prstGeom>
          <a:solidFill>
            <a:srgbClr val="3D8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 UI"/>
              </a:rPr>
              <a:t>动作分类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528048" y="2368296"/>
            <a:ext cx="237744" cy="228600"/>
          </a:xfrm>
          <a:prstGeom prst="rightArrow">
            <a:avLst/>
          </a:prstGeom>
          <a:solidFill>
            <a:srgbClr val="DF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738360" y="2148840"/>
            <a:ext cx="1627632" cy="694944"/>
          </a:xfrm>
          <a:prstGeom prst="roundRect">
            <a:avLst/>
          </a:prstGeom>
          <a:solidFill>
            <a:srgbClr val="C14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 UI"/>
              </a:rPr>
              <a:t>错误复盘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429000"/>
            <a:ext cx="32461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3232" y="3429000"/>
            <a:ext cx="73152" cy="1325880"/>
          </a:xfrm>
          <a:prstGeom prst="rect">
            <a:avLst/>
          </a:prstGeom>
          <a:solidFill>
            <a:srgbClr val="117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557016"/>
            <a:ext cx="2926079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400" b="1">
                <a:solidFill>
                  <a:srgbClr val="1C2637"/>
                </a:solidFill>
                <a:latin typeface="Microsoft YaHei UI"/>
              </a:rPr>
              <a:t>动作任务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3931920"/>
            <a:ext cx="2926079" cy="731519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150" b="0">
                <a:solidFill>
                  <a:srgbClr val="5F6976"/>
                </a:solidFill>
                <a:latin typeface="Microsoft YaHei"/>
              </a:rPr>
              <a:t>1 前平举
2 侧平举
3 推肩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60" y="3429000"/>
            <a:ext cx="32461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51960" y="3429000"/>
            <a:ext cx="73152" cy="1325880"/>
          </a:xfrm>
          <a:prstGeom prst="rect">
            <a:avLst/>
          </a:prstGeom>
          <a:solidFill>
            <a:srgbClr val="DC7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3557016"/>
            <a:ext cx="2926079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400" b="1">
                <a:solidFill>
                  <a:srgbClr val="1C2637"/>
                </a:solidFill>
                <a:latin typeface="Microsoft YaHei UI"/>
              </a:rPr>
              <a:t>采集通道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3931920"/>
            <a:ext cx="2926079" cy="731519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150" b="0">
                <a:solidFill>
                  <a:srgbClr val="5F6976"/>
                </a:solidFill>
                <a:latin typeface="Microsoft YaHei"/>
              </a:rPr>
              <a:t>CH1：三角肌前束
CH2：三角肌中束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90688" y="3429000"/>
            <a:ext cx="32461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90688" y="3429000"/>
            <a:ext cx="73152" cy="1325880"/>
          </a:xfrm>
          <a:prstGeom prst="rect">
            <a:avLst/>
          </a:prstGeom>
          <a:solidFill>
            <a:srgbClr val="3D8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73567" y="3557016"/>
            <a:ext cx="2926079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400" b="1">
                <a:solidFill>
                  <a:srgbClr val="1C2637"/>
                </a:solidFill>
                <a:latin typeface="Microsoft YaHei UI"/>
              </a:rPr>
              <a:t>展示重点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73567" y="3931920"/>
            <a:ext cx="2926079" cy="731519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150" b="0">
                <a:solidFill>
                  <a:srgbClr val="5F6976"/>
                </a:solidFill>
                <a:latin typeface="Microsoft YaHei"/>
              </a:rPr>
              <a:t>不是只报分数，而是解释模型为什么对、为什么错、下一步怎么改。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5532120"/>
            <a:ext cx="1056132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14181E"/>
                </a:solidFill>
                <a:latin typeface="Microsoft YaHei UI"/>
              </a:rPr>
              <a:t>一句话：我们把连续肌电信号变成可解释的动作周期样本，再用隐藏测试反推系统瓶颈。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52760" y="6446520"/>
            <a:ext cx="96012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F6976"/>
                </a:solidFill>
                <a:latin typeface="Microsoft YaHei"/>
              </a:rPr>
              <a:t>1/10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46520"/>
            <a:ext cx="438912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5F6976"/>
                </a:solidFill>
                <a:latin typeface="Microsoft YaHei"/>
              </a:rPr>
              <a:t>双通道 sEMG 肩部动作识别 | 答辩展示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966960" cy="56692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1C2637"/>
                </a:solidFill>
                <a:latin typeface="Microsoft YaHei UI"/>
              </a:rPr>
              <a:t>采集设计的取舍是“少通道、强解释、可复现”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78992"/>
            <a:ext cx="1170432" cy="45720"/>
          </a:xfrm>
          <a:prstGeom prst="rect">
            <a:avLst/>
          </a:prstGeom>
          <a:solidFill>
            <a:srgbClr val="DC7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1546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73152" cy="1143000"/>
          </a:xfrm>
          <a:prstGeom prst="rect">
            <a:avLst/>
          </a:prstGeom>
          <a:solidFill>
            <a:srgbClr val="117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45336"/>
            <a:ext cx="283464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400" b="1">
                <a:solidFill>
                  <a:srgbClr val="1C2637"/>
                </a:solidFill>
                <a:latin typeface="Microsoft YaHei UI"/>
              </a:rPr>
              <a:t>采样与数据结构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2834640" cy="5486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150" b="0">
                <a:solidFill>
                  <a:srgbClr val="5F6976"/>
                </a:solidFill>
                <a:latin typeface="Microsoft YaHei"/>
              </a:rPr>
              <a:t>Fs = 2000 Hz
每个文件是一种动作，多次重复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417320"/>
            <a:ext cx="31546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60520" y="1417320"/>
            <a:ext cx="73152" cy="1143000"/>
          </a:xfrm>
          <a:prstGeom prst="rect">
            <a:avLst/>
          </a:prstGeom>
          <a:solidFill>
            <a:srgbClr val="DC7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545336"/>
            <a:ext cx="283464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400" b="1">
                <a:solidFill>
                  <a:srgbClr val="1C2637"/>
                </a:solidFill>
                <a:latin typeface="Microsoft YaHei UI"/>
              </a:rPr>
              <a:t>电极位置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920240"/>
            <a:ext cx="2834640" cy="5486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150" b="0">
                <a:solidFill>
                  <a:srgbClr val="5F6976"/>
                </a:solidFill>
                <a:latin typeface="Microsoft YaHei"/>
              </a:rPr>
              <a:t>CH1 三角肌前束
CH2 三角肌中束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417320"/>
            <a:ext cx="31546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35240" y="1417320"/>
            <a:ext cx="73152" cy="1143000"/>
          </a:xfrm>
          <a:prstGeom prst="rect">
            <a:avLst/>
          </a:prstGeom>
          <a:solidFill>
            <a:srgbClr val="C14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19" y="1545336"/>
            <a:ext cx="283464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400" b="1">
                <a:solidFill>
                  <a:srgbClr val="1C2637"/>
                </a:solidFill>
                <a:latin typeface="Microsoft YaHei UI"/>
              </a:rPr>
              <a:t>设计边界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19" y="1920240"/>
            <a:ext cx="2834640" cy="5486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150" b="0">
                <a:solidFill>
                  <a:srgbClr val="5F6976"/>
                </a:solidFill>
                <a:latin typeface="Microsoft YaHei"/>
              </a:rPr>
              <a:t>侧平举可解释性强；推肩是复合动作，双通道表达不足。</a:t>
            </a:r>
          </a:p>
        </p:txBody>
      </p:sp>
      <p:sp>
        <p:nvSpPr>
          <p:cNvPr id="16" name="Oval 15"/>
          <p:cNvSpPr/>
          <p:nvPr/>
        </p:nvSpPr>
        <p:spPr>
          <a:xfrm>
            <a:off x="960120" y="3063240"/>
            <a:ext cx="1005840" cy="1005840"/>
          </a:xfrm>
          <a:prstGeom prst="ellipse">
            <a:avLst/>
          </a:prstGeom>
          <a:solidFill>
            <a:srgbClr val="F6F8FA"/>
          </a:solidFill>
          <a:ln w="12700">
            <a:solidFill>
              <a:srgbClr val="DF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43000" y="3886200"/>
            <a:ext cx="658368" cy="123444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F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1080000">
            <a:off x="1828800" y="3913632"/>
            <a:ext cx="1965960" cy="164592"/>
          </a:xfrm>
          <a:prstGeom prst="rect">
            <a:avLst/>
          </a:prstGeom>
          <a:solidFill>
            <a:srgbClr val="DF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19800000">
            <a:off x="45720" y="3977639"/>
            <a:ext cx="1051560" cy="164592"/>
          </a:xfrm>
          <a:prstGeom prst="rect">
            <a:avLst/>
          </a:prstGeom>
          <a:solidFill>
            <a:srgbClr val="DF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331720" y="3246120"/>
            <a:ext cx="1051560" cy="329184"/>
          </a:xfrm>
          <a:prstGeom prst="roundRect">
            <a:avLst/>
          </a:prstGeom>
          <a:solidFill>
            <a:srgbClr val="DC7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27432" bIns="27432"/>
          <a:lstStyle/>
          <a:p>
            <a:pPr algn="ctr"/>
            <a:r>
              <a:rPr b="1" sz="1100">
                <a:solidFill>
                  <a:srgbClr val="FFFFFF"/>
                </a:solidFill>
                <a:latin typeface="Microsoft YaHei UI"/>
              </a:rPr>
              <a:t>CH1 前束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14600" y="3886200"/>
            <a:ext cx="1051560" cy="329184"/>
          </a:xfrm>
          <a:prstGeom prst="roundRect">
            <a:avLst/>
          </a:prstGeom>
          <a:solidFill>
            <a:srgbClr val="117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27432" bIns="27432"/>
          <a:lstStyle/>
          <a:p>
            <a:pPr algn="ctr"/>
            <a:r>
              <a:rPr b="1" sz="1100">
                <a:solidFill>
                  <a:srgbClr val="FFFFFF"/>
                </a:solidFill>
                <a:latin typeface="Microsoft YaHei UI"/>
              </a:rPr>
              <a:t>CH2 中束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063240"/>
            <a:ext cx="6217920" cy="34747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C2637"/>
                </a:solidFill>
                <a:latin typeface="Microsoft YaHei UI"/>
              </a:rPr>
              <a:t>为什么不是越多通道越好？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3566160"/>
            <a:ext cx="6217920" cy="1737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4181E"/>
                </a:solidFill>
                <a:latin typeface="Microsoft YaHei"/>
              </a:defRPr>
            </a:pPr>
            <a:r>
              <a:t>本课程场景更看重完整链路和可解释性。</a:t>
            </a:r>
          </a:p>
          <a:p>
            <a:pPr>
              <a:spcAft>
                <a:spcPts val="700"/>
              </a:spcAft>
              <a:defRPr sz="1500">
                <a:solidFill>
                  <a:srgbClr val="14181E"/>
                </a:solidFill>
                <a:latin typeface="Microsoft YaHei"/>
              </a:defRPr>
            </a:pPr>
            <a:r>
              <a:t>两个通道能直接对应动作生理假设：前束/中束谁更主导。</a:t>
            </a:r>
          </a:p>
          <a:p>
            <a:pPr>
              <a:spcAft>
                <a:spcPts val="700"/>
              </a:spcAft>
              <a:defRPr sz="1500">
                <a:solidFill>
                  <a:srgbClr val="14181E"/>
                </a:solidFill>
                <a:latin typeface="Microsoft YaHei"/>
              </a:defRPr>
            </a:pPr>
            <a:r>
              <a:t>代价也清楚：推肩这种复合动作可能需要更多肌肉或时序信息。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52760" y="6446520"/>
            <a:ext cx="96012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F6976"/>
                </a:solidFill>
                <a:latin typeface="Microsoft YaHei"/>
              </a:rPr>
              <a:t>2/10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46520"/>
            <a:ext cx="438912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5F6976"/>
                </a:solidFill>
                <a:latin typeface="Microsoft YaHei"/>
              </a:rPr>
              <a:t>双通道 sEMG 肩部动作识别 | 答辩展示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966960" cy="56692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1C2637"/>
                </a:solidFill>
                <a:latin typeface="Microsoft YaHei UI"/>
              </a:rPr>
              <a:t>动作事件检测决定了后续每一个样本是否可信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78992"/>
            <a:ext cx="1170432" cy="45720"/>
          </a:xfrm>
          <a:prstGeom prst="rect">
            <a:avLst/>
          </a:prstGeom>
          <a:solidFill>
            <a:srgbClr val="DC7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3232" y="1417320"/>
            <a:ext cx="1627632" cy="694944"/>
          </a:xfrm>
          <a:prstGeom prst="roundRect">
            <a:avLst/>
          </a:prstGeom>
          <a:solidFill>
            <a:srgbClr val="1C2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 UI"/>
              </a:rPr>
              <a:t>去直流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313432" y="1636776"/>
            <a:ext cx="237744" cy="228600"/>
          </a:xfrm>
          <a:prstGeom prst="rightArrow">
            <a:avLst/>
          </a:prstGeom>
          <a:solidFill>
            <a:srgbClr val="DF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23744" y="1417320"/>
            <a:ext cx="1627632" cy="694944"/>
          </a:xfrm>
          <a:prstGeom prst="roundRect">
            <a:avLst/>
          </a:prstGeom>
          <a:solidFill>
            <a:srgbClr val="117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 UI"/>
              </a:rPr>
              <a:t>20 Hz
高通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123944" y="1636776"/>
            <a:ext cx="237744" cy="228600"/>
          </a:xfrm>
          <a:prstGeom prst="rightArrow">
            <a:avLst/>
          </a:prstGeom>
          <a:solidFill>
            <a:srgbClr val="DF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34256" y="1417320"/>
            <a:ext cx="1627632" cy="694944"/>
          </a:xfrm>
          <a:prstGeom prst="roundRect">
            <a:avLst/>
          </a:prstGeom>
          <a:solidFill>
            <a:srgbClr val="117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 UI"/>
              </a:rPr>
              <a:t>450 Hz
低通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34456" y="1636776"/>
            <a:ext cx="237744" cy="228600"/>
          </a:xfrm>
          <a:prstGeom prst="rightArrow">
            <a:avLst/>
          </a:prstGeom>
          <a:solidFill>
            <a:srgbClr val="DF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44768" y="1417320"/>
            <a:ext cx="1627632" cy="694944"/>
          </a:xfrm>
          <a:prstGeom prst="roundRect">
            <a:avLst/>
          </a:prstGeom>
          <a:solidFill>
            <a:srgbClr val="DC7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 UI"/>
              </a:rPr>
              <a:t>50 Hz
陷波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44968" y="1636776"/>
            <a:ext cx="237744" cy="228600"/>
          </a:xfrm>
          <a:prstGeom prst="rightArrow">
            <a:avLst/>
          </a:prstGeom>
          <a:solidFill>
            <a:srgbClr val="DF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955279" y="1417320"/>
            <a:ext cx="1627632" cy="694944"/>
          </a:xfrm>
          <a:prstGeom prst="roundRect">
            <a:avLst/>
          </a:prstGeom>
          <a:solidFill>
            <a:srgbClr val="3D8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 UI"/>
              </a:rPr>
              <a:t>RMS
包络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555480" y="1636776"/>
            <a:ext cx="237744" cy="228600"/>
          </a:xfrm>
          <a:prstGeom prst="rightArrow">
            <a:avLst/>
          </a:prstGeom>
          <a:solidFill>
            <a:srgbClr val="DF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765792" y="1417320"/>
            <a:ext cx="1627632" cy="694944"/>
          </a:xfrm>
          <a:prstGeom prst="roundRect">
            <a:avLst/>
          </a:prstGeom>
          <a:solidFill>
            <a:srgbClr val="C14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 UI"/>
              </a:rPr>
              <a:t>周期
边界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514600"/>
            <a:ext cx="512064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C2637"/>
                </a:solidFill>
                <a:latin typeface="Microsoft YaHei UI"/>
              </a:rPr>
              <a:t>核心思路：先判断“哪里在动”，再判断“每次动作从哪到哪”。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063240"/>
            <a:ext cx="5394960" cy="1783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4181E"/>
                </a:solidFill>
                <a:latin typeface="Microsoft YaHei"/>
              </a:defRPr>
            </a:pPr>
            <a:r>
              <a:t>双通道 RMS 融合包络减少单通道偶然波动。</a:t>
            </a:r>
          </a:p>
          <a:p>
            <a:pPr>
              <a:spcAft>
                <a:spcPts val="700"/>
              </a:spcAft>
              <a:defRPr sz="1500">
                <a:solidFill>
                  <a:srgbClr val="14181E"/>
                </a:solidFill>
                <a:latin typeface="Microsoft YaHei"/>
              </a:defRPr>
            </a:pPr>
            <a:r>
              <a:t>自适应阈值区分静息段与活动段。</a:t>
            </a:r>
          </a:p>
          <a:p>
            <a:pPr>
              <a:spcAft>
                <a:spcPts val="700"/>
              </a:spcAft>
              <a:defRPr sz="1500">
                <a:solidFill>
                  <a:srgbClr val="14181E"/>
                </a:solidFill>
                <a:latin typeface="Microsoft YaHei"/>
              </a:defRPr>
            </a:pPr>
            <a:r>
              <a:t>相邻峰之间的谷底用于分割 4-6 个完整周期。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240280"/>
            <a:ext cx="4892040" cy="292608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F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6720840" y="4800600"/>
            <a:ext cx="4114800" cy="0"/>
          </a:xfrm>
          <a:prstGeom prst="line">
            <a:avLst/>
          </a:prstGeom>
          <a:ln w="12700">
            <a:solidFill>
              <a:srgbClr val="5F69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6720840" y="2514600"/>
            <a:ext cx="0" cy="2286000"/>
          </a:xfrm>
          <a:prstGeom prst="line">
            <a:avLst/>
          </a:prstGeom>
          <a:ln w="12700">
            <a:solidFill>
              <a:srgbClr val="5F69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784848" y="4005072"/>
            <a:ext cx="3959352" cy="0"/>
          </a:xfrm>
          <a:prstGeom prst="line">
            <a:avLst/>
          </a:prstGeom>
          <a:ln w="15240">
            <a:solidFill>
              <a:srgbClr val="DC772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0" y="3749039"/>
            <a:ext cx="68580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900" b="1">
                <a:solidFill>
                  <a:srgbClr val="DC772B"/>
                </a:solidFill>
                <a:latin typeface="Microsoft YaHei UI"/>
              </a:rPr>
              <a:t>阈值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6812280" y="4343400"/>
            <a:ext cx="365760" cy="274320"/>
          </a:xfrm>
          <a:prstGeom prst="line">
            <a:avLst/>
          </a:prstGeom>
          <a:ln w="27940">
            <a:solidFill>
              <a:srgbClr val="117E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7178040" y="3246120"/>
            <a:ext cx="274320" cy="1097280"/>
          </a:xfrm>
          <a:prstGeom prst="line">
            <a:avLst/>
          </a:prstGeom>
          <a:ln w="27940">
            <a:solidFill>
              <a:srgbClr val="117E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452360" y="3246120"/>
            <a:ext cx="320040" cy="978408"/>
          </a:xfrm>
          <a:prstGeom prst="line">
            <a:avLst/>
          </a:prstGeom>
          <a:ln w="27940">
            <a:solidFill>
              <a:srgbClr val="117E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772400" y="4224528"/>
            <a:ext cx="411479" cy="347472"/>
          </a:xfrm>
          <a:prstGeom prst="line">
            <a:avLst/>
          </a:prstGeom>
          <a:ln w="27940">
            <a:solidFill>
              <a:srgbClr val="117E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183879" y="4206240"/>
            <a:ext cx="228601" cy="365760"/>
          </a:xfrm>
          <a:prstGeom prst="line">
            <a:avLst/>
          </a:prstGeom>
          <a:ln w="27940">
            <a:solidFill>
              <a:srgbClr val="117E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412480" y="2971800"/>
            <a:ext cx="320040" cy="1234440"/>
          </a:xfrm>
          <a:prstGeom prst="line">
            <a:avLst/>
          </a:prstGeom>
          <a:ln w="27940">
            <a:solidFill>
              <a:srgbClr val="117E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732520" y="2971800"/>
            <a:ext cx="338328" cy="1188720"/>
          </a:xfrm>
          <a:prstGeom prst="line">
            <a:avLst/>
          </a:prstGeom>
          <a:ln w="27940">
            <a:solidFill>
              <a:srgbClr val="117E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070848" y="4160520"/>
            <a:ext cx="347472" cy="429768"/>
          </a:xfrm>
          <a:prstGeom prst="line">
            <a:avLst/>
          </a:prstGeom>
          <a:ln w="27940">
            <a:solidFill>
              <a:srgbClr val="117E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9418320" y="4251960"/>
            <a:ext cx="292608" cy="338328"/>
          </a:xfrm>
          <a:prstGeom prst="line">
            <a:avLst/>
          </a:prstGeom>
          <a:ln w="27940">
            <a:solidFill>
              <a:srgbClr val="117E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9710928" y="3337560"/>
            <a:ext cx="301752" cy="914400"/>
          </a:xfrm>
          <a:prstGeom prst="line">
            <a:avLst/>
          </a:prstGeom>
          <a:ln w="27940">
            <a:solidFill>
              <a:srgbClr val="117E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012680" y="3337560"/>
            <a:ext cx="356616" cy="905256"/>
          </a:xfrm>
          <a:prstGeom prst="line">
            <a:avLst/>
          </a:prstGeom>
          <a:ln w="27940">
            <a:solidFill>
              <a:srgbClr val="117E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369296" y="4242816"/>
            <a:ext cx="374904" cy="374904"/>
          </a:xfrm>
          <a:prstGeom prst="line">
            <a:avLst/>
          </a:prstGeom>
          <a:ln w="27940">
            <a:solidFill>
              <a:srgbClr val="117E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7397496" y="3191256"/>
            <a:ext cx="109728" cy="109728"/>
          </a:xfrm>
          <a:prstGeom prst="ellipse">
            <a:avLst/>
          </a:prstGeom>
          <a:solidFill>
            <a:srgbClr val="C14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677656" y="2916936"/>
            <a:ext cx="109728" cy="109728"/>
          </a:xfrm>
          <a:prstGeom prst="ellipse">
            <a:avLst/>
          </a:prstGeom>
          <a:solidFill>
            <a:srgbClr val="C14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957815" y="3282696"/>
            <a:ext cx="109728" cy="109728"/>
          </a:xfrm>
          <a:prstGeom prst="ellipse">
            <a:avLst/>
          </a:prstGeom>
          <a:solidFill>
            <a:srgbClr val="C14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03720" y="2606040"/>
            <a:ext cx="4023360" cy="2743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00" b="1">
                <a:solidFill>
                  <a:srgbClr val="1C2637"/>
                </a:solidFill>
                <a:latin typeface="Microsoft YaHei UI"/>
              </a:rPr>
              <a:t>峰间谷底切分动作周期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52760" y="6446520"/>
            <a:ext cx="96012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F6976"/>
                </a:solidFill>
                <a:latin typeface="Microsoft YaHei"/>
              </a:rPr>
              <a:t>3/10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6446520"/>
            <a:ext cx="438912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5F6976"/>
                </a:solidFill>
                <a:latin typeface="Microsoft YaHei"/>
              </a:rPr>
              <a:t>双通道 sEMG 肩部动作识别 | 答辩展示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966960" cy="56692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1C2637"/>
                </a:solidFill>
                <a:latin typeface="Microsoft YaHei UI"/>
              </a:rPr>
              <a:t>特征设计来自文献，也来自肌肉协同的生理假设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78992"/>
            <a:ext cx="1170432" cy="45720"/>
          </a:xfrm>
          <a:prstGeom prst="rect">
            <a:avLst/>
          </a:prstGeom>
          <a:solidFill>
            <a:srgbClr val="DC7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1546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73152" cy="1463040"/>
          </a:xfrm>
          <a:prstGeom prst="rect">
            <a:avLst/>
          </a:prstGeom>
          <a:solidFill>
            <a:srgbClr val="117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53895"/>
            <a:ext cx="283464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400" b="1">
                <a:solidFill>
                  <a:srgbClr val="1C2637"/>
                </a:solidFill>
                <a:latin typeface="Microsoft YaHei UI"/>
              </a:rPr>
              <a:t>文献依据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2834640" cy="8686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150" b="0">
                <a:solidFill>
                  <a:srgbClr val="5F6976"/>
                </a:solidFill>
                <a:latin typeface="Microsoft YaHei"/>
              </a:rPr>
              <a:t>SENIAM：电极位置、方向、间距要对应目标肌肉
EMG 处理：抑制伪迹和工频干扰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325880"/>
            <a:ext cx="31546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60520" y="1325880"/>
            <a:ext cx="73152" cy="1463040"/>
          </a:xfrm>
          <a:prstGeom prst="rect">
            <a:avLst/>
          </a:prstGeom>
          <a:solidFill>
            <a:srgbClr val="DC7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453895"/>
            <a:ext cx="283464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400" b="1">
                <a:solidFill>
                  <a:srgbClr val="1C2637"/>
                </a:solidFill>
                <a:latin typeface="Microsoft YaHei UI"/>
              </a:rPr>
              <a:t>常用特征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828800"/>
            <a:ext cx="2834640" cy="8686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150" b="0">
                <a:solidFill>
                  <a:srgbClr val="5F6976"/>
                </a:solidFill>
                <a:latin typeface="Microsoft YaHei"/>
              </a:rPr>
              <a:t>RMS/MAV：激活强度
WL/ZC/SSC：波形复杂度
MF/MDF：频谱结构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325880"/>
            <a:ext cx="31546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35240" y="1325880"/>
            <a:ext cx="73152" cy="1463040"/>
          </a:xfrm>
          <a:prstGeom prst="rect">
            <a:avLst/>
          </a:prstGeom>
          <a:solidFill>
            <a:srgbClr val="3D8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19" y="1453895"/>
            <a:ext cx="283464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400" b="1">
                <a:solidFill>
                  <a:srgbClr val="1C2637"/>
                </a:solidFill>
                <a:latin typeface="Microsoft YaHei UI"/>
              </a:rPr>
              <a:t>本项目强化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19" y="1828800"/>
            <a:ext cx="2834640" cy="8686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150" b="0">
                <a:solidFill>
                  <a:srgbClr val="5F6976"/>
                </a:solidFill>
                <a:latin typeface="Microsoft YaHei"/>
              </a:rPr>
              <a:t>CH2/CH1 比值
RMS 主导度
周期内稳定性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337560"/>
            <a:ext cx="292608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C2637"/>
                </a:solidFill>
                <a:latin typeface="Microsoft YaHei UI"/>
              </a:rPr>
              <a:t>动作生理假设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822191"/>
            <a:ext cx="297180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822191"/>
            <a:ext cx="73152" cy="1170432"/>
          </a:xfrm>
          <a:prstGeom prst="rect">
            <a:avLst/>
          </a:prstGeom>
          <a:solidFill>
            <a:srgbClr val="DC7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950207"/>
            <a:ext cx="265176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400" b="1">
                <a:solidFill>
                  <a:srgbClr val="1C2637"/>
                </a:solidFill>
                <a:latin typeface="Microsoft YaHei UI"/>
              </a:rPr>
              <a:t>前平举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325112"/>
            <a:ext cx="2651760" cy="57607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150" b="0">
                <a:solidFill>
                  <a:srgbClr val="5F6976"/>
                </a:solidFill>
                <a:latin typeface="Microsoft YaHei"/>
              </a:rPr>
              <a:t>三角肌前束更主导
CH2/CH1 往往 &lt; 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80" y="3822191"/>
            <a:ext cx="297180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26280" y="3822191"/>
            <a:ext cx="73152" cy="1170432"/>
          </a:xfrm>
          <a:prstGeom prst="rect">
            <a:avLst/>
          </a:prstGeom>
          <a:solidFill>
            <a:srgbClr val="117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3950207"/>
            <a:ext cx="265176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400" b="1">
                <a:solidFill>
                  <a:srgbClr val="1C2637"/>
                </a:solidFill>
                <a:latin typeface="Microsoft YaHei UI"/>
              </a:rPr>
              <a:t>侧平举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4325112"/>
            <a:ext cx="2651760" cy="57607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150" b="0">
                <a:solidFill>
                  <a:srgbClr val="5F6976"/>
                </a:solidFill>
                <a:latin typeface="Microsoft YaHei"/>
              </a:rPr>
              <a:t>三角肌中束更主导
CH2/CH1 往往 &gt; 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3822191"/>
            <a:ext cx="297180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75320" y="3822191"/>
            <a:ext cx="73152" cy="1170432"/>
          </a:xfrm>
          <a:prstGeom prst="rect">
            <a:avLst/>
          </a:prstGeom>
          <a:solidFill>
            <a:srgbClr val="C14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200" y="3950207"/>
            <a:ext cx="265176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400" b="1">
                <a:solidFill>
                  <a:srgbClr val="1C2637"/>
                </a:solidFill>
                <a:latin typeface="Microsoft YaHei UI"/>
              </a:rPr>
              <a:t>推肩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4325112"/>
            <a:ext cx="2651760" cy="57607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150" b="0">
                <a:solidFill>
                  <a:srgbClr val="5F6976"/>
                </a:solidFill>
                <a:latin typeface="Microsoft YaHei"/>
              </a:rPr>
              <a:t>复合激活
可能与前平举重叠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" y="5623560"/>
            <a:ext cx="10424160" cy="329184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550" b="1">
                <a:solidFill>
                  <a:srgbClr val="14181E"/>
                </a:solidFill>
                <a:latin typeface="Microsoft YaHei UI"/>
              </a:rPr>
              <a:t>所以后续分析重点不是“哪个模型更炫”，而是特征是否真的贴近动作生理。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52760" y="6446520"/>
            <a:ext cx="96012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F6976"/>
                </a:solidFill>
                <a:latin typeface="Microsoft YaHei"/>
              </a:rPr>
              <a:t>4/10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446520"/>
            <a:ext cx="438912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5F6976"/>
                </a:solidFill>
                <a:latin typeface="Microsoft YaHei"/>
              </a:rPr>
              <a:t>双通道 sEMG 肩部动作识别 | 答辩展示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966960" cy="56692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1C2637"/>
                </a:solidFill>
                <a:latin typeface="Microsoft YaHei UI"/>
              </a:rPr>
              <a:t>最有解释力的特征，是两块肌肉的相对激活关系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78992"/>
            <a:ext cx="1170432" cy="45720"/>
          </a:xfrm>
          <a:prstGeom prst="rect">
            <a:avLst/>
          </a:prstGeom>
          <a:solidFill>
            <a:srgbClr val="DC7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ature_true_lab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261872"/>
            <a:ext cx="5760720" cy="4069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1463040"/>
            <a:ext cx="4297680" cy="36576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C2637"/>
                </a:solidFill>
                <a:latin typeface="Microsoft YaHei UI"/>
              </a:rPr>
              <a:t>Group03 真值复盘后的均值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12280" y="2057400"/>
            <a:ext cx="1051560" cy="329184"/>
          </a:xfrm>
          <a:prstGeom prst="roundRect">
            <a:avLst/>
          </a:prstGeom>
          <a:solidFill>
            <a:srgbClr val="DC7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27432" bIns="27432"/>
          <a:lstStyle/>
          <a:p>
            <a:pPr algn="ctr"/>
            <a:r>
              <a:rPr b="1" sz="1100">
                <a:solidFill>
                  <a:srgbClr val="FFFFFF"/>
                </a:solidFill>
                <a:latin typeface="Microsoft YaHei UI"/>
              </a:rPr>
              <a:t>前平举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2048256"/>
            <a:ext cx="205740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400" b="1">
                <a:solidFill>
                  <a:srgbClr val="14181E"/>
                </a:solidFill>
                <a:latin typeface="Microsoft YaHei UI"/>
              </a:rPr>
              <a:t>CH2/CH1 = 0.973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368296"/>
            <a:ext cx="292608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150" b="0">
                <a:solidFill>
                  <a:srgbClr val="5F6976"/>
                </a:solidFill>
                <a:latin typeface="Microsoft YaHei"/>
              </a:rPr>
              <a:t>接近均衡，略前束主导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12280" y="3017520"/>
            <a:ext cx="1051560" cy="329184"/>
          </a:xfrm>
          <a:prstGeom prst="roundRect">
            <a:avLst/>
          </a:prstGeom>
          <a:solidFill>
            <a:srgbClr val="117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27432" bIns="27432"/>
          <a:lstStyle/>
          <a:p>
            <a:pPr algn="ctr"/>
            <a:r>
              <a:rPr b="1" sz="1100">
                <a:solidFill>
                  <a:srgbClr val="FFFFFF"/>
                </a:solidFill>
                <a:latin typeface="Microsoft YaHei UI"/>
              </a:rPr>
              <a:t>侧平举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008376"/>
            <a:ext cx="205740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400" b="1">
                <a:solidFill>
                  <a:srgbClr val="14181E"/>
                </a:solidFill>
                <a:latin typeface="Microsoft YaHei UI"/>
              </a:rPr>
              <a:t>CH2/CH1 = 1.179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3328415"/>
            <a:ext cx="292608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150" b="0">
                <a:solidFill>
                  <a:srgbClr val="5F6976"/>
                </a:solidFill>
                <a:latin typeface="Microsoft YaHei"/>
              </a:rPr>
              <a:t>中束相对更强，最容易解释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3977639"/>
            <a:ext cx="1051560" cy="329184"/>
          </a:xfrm>
          <a:prstGeom prst="roundRect">
            <a:avLst/>
          </a:prstGeom>
          <a:solidFill>
            <a:srgbClr val="C14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27432" bIns="27432"/>
          <a:lstStyle/>
          <a:p>
            <a:pPr algn="ctr"/>
            <a:r>
              <a:rPr b="1" sz="1100">
                <a:solidFill>
                  <a:srgbClr val="FFFFFF"/>
                </a:solidFill>
                <a:latin typeface="Microsoft YaHei UI"/>
              </a:rPr>
              <a:t>推肩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968496"/>
            <a:ext cx="205740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400" b="1">
                <a:solidFill>
                  <a:srgbClr val="14181E"/>
                </a:solidFill>
                <a:latin typeface="Microsoft YaHei UI"/>
              </a:rPr>
              <a:t>CH2/CH1 = 0.538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4288536"/>
            <a:ext cx="292608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150" b="0">
                <a:solidFill>
                  <a:srgbClr val="5F6976"/>
                </a:solidFill>
                <a:latin typeface="Microsoft YaHei"/>
              </a:rPr>
              <a:t>明显前束主导，容易像前平举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12280" y="5074920"/>
            <a:ext cx="42519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12280" y="5074920"/>
            <a:ext cx="73152" cy="822960"/>
          </a:xfrm>
          <a:prstGeom prst="rect">
            <a:avLst/>
          </a:prstGeom>
          <a:solidFill>
            <a:srgbClr val="3D8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5160" y="5202936"/>
            <a:ext cx="393192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400" b="1">
                <a:solidFill>
                  <a:srgbClr val="1C2637"/>
                </a:solidFill>
                <a:latin typeface="Microsoft YaHei UI"/>
              </a:rPr>
              <a:t>结论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5577840"/>
            <a:ext cx="393192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150" b="0">
                <a:solidFill>
                  <a:srgbClr val="5F6976"/>
                </a:solidFill>
                <a:latin typeface="Microsoft YaHei"/>
              </a:rPr>
              <a:t>侧平举的通道比值边界较清楚；推肩和前平举的主要冲突来自“前束主导”的重叠。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446520"/>
            <a:ext cx="96012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F6976"/>
                </a:solidFill>
                <a:latin typeface="Microsoft YaHei"/>
              </a:rPr>
              <a:t>5/10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46520"/>
            <a:ext cx="438912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5F6976"/>
                </a:solidFill>
                <a:latin typeface="Microsoft YaHei"/>
              </a:rPr>
              <a:t>双通道 sEMG 肩部动作识别 | 答辩展示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966960" cy="56692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1C2637"/>
                </a:solidFill>
                <a:latin typeface="Microsoft YaHei UI"/>
              </a:rPr>
              <a:t>隐藏测试告诉我们：高 Precision 不代表模型已经泛化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78992"/>
            <a:ext cx="1170432" cy="45720"/>
          </a:xfrm>
          <a:prstGeom prst="rect">
            <a:avLst/>
          </a:prstGeom>
          <a:solidFill>
            <a:srgbClr val="DC7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69164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5F6976"/>
                </a:solidFill>
                <a:latin typeface="Microsoft YaHei"/>
              </a:rPr>
              <a:t>Submit1 Precision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09928"/>
            <a:ext cx="169164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500" b="1">
                <a:solidFill>
                  <a:srgbClr val="3D8D5F"/>
                </a:solidFill>
                <a:latin typeface="Microsoft YaHei UI"/>
              </a:rPr>
              <a:t>0.827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40280"/>
            <a:ext cx="169164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950" b="0">
                <a:solidFill>
                  <a:srgbClr val="5F6976"/>
                </a:solidFill>
                <a:latin typeface="Microsoft YaHei"/>
              </a:rPr>
              <a:t>预测为 2/3 时较准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1417320"/>
            <a:ext cx="169164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5F6976"/>
                </a:solidFill>
                <a:latin typeface="Microsoft YaHei"/>
              </a:rPr>
              <a:t>Submit1 Recall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1709928"/>
            <a:ext cx="169164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500" b="1">
                <a:solidFill>
                  <a:srgbClr val="DC772B"/>
                </a:solidFill>
                <a:latin typeface="Microsoft YaHei UI"/>
              </a:rPr>
              <a:t>0.639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2240280"/>
            <a:ext cx="169164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950" b="0">
                <a:solidFill>
                  <a:srgbClr val="5F6976"/>
                </a:solidFill>
                <a:latin typeface="Microsoft YaHei"/>
              </a:rPr>
              <a:t>漏掉大量真实 2/3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1417320"/>
            <a:ext cx="169164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5F6976"/>
                </a:solidFill>
                <a:latin typeface="Microsoft YaHei"/>
              </a:rPr>
              <a:t>Submit1 F1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709928"/>
            <a:ext cx="169164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500" b="1">
                <a:solidFill>
                  <a:srgbClr val="117E74"/>
                </a:solidFill>
                <a:latin typeface="Microsoft YaHei UI"/>
              </a:rPr>
              <a:t>0.635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240280"/>
            <a:ext cx="169164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950" b="0">
                <a:solidFill>
                  <a:srgbClr val="5F6976"/>
                </a:solidFill>
                <a:latin typeface="Microsoft YaHei"/>
              </a:rPr>
              <a:t>宏平均</a:t>
            </a:r>
          </a:p>
        </p:txBody>
      </p:sp>
      <p:pic>
        <p:nvPicPr>
          <p:cNvPr id="13" name="Picture 12" descr="cm_submi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560320"/>
            <a:ext cx="4754880" cy="31546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989320" y="2606040"/>
            <a:ext cx="4846320" cy="329184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1C2637"/>
                </a:solidFill>
                <a:latin typeface="Microsoft YaHei UI"/>
              </a:rPr>
              <a:t>Submit1 的错误不是随机分散，而是集中“吞到 1 类”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16752" y="3154680"/>
            <a:ext cx="4892040" cy="1645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4181E"/>
                </a:solidFill>
                <a:latin typeface="Microsoft YaHei"/>
              </a:defRPr>
            </a:pPr>
            <a:r>
              <a:t>真实 2：6/12 被判成 1。</a:t>
            </a:r>
          </a:p>
          <a:p>
            <a:pPr>
              <a:spcAft>
                <a:spcPts val="700"/>
              </a:spcAft>
              <a:defRPr sz="1500">
                <a:solidFill>
                  <a:srgbClr val="14181E"/>
                </a:solidFill>
                <a:latin typeface="Microsoft YaHei"/>
              </a:defRPr>
            </a:pPr>
            <a:r>
              <a:t>真实 3：7/12 被判成 1。</a:t>
            </a:r>
          </a:p>
          <a:p>
            <a:pPr>
              <a:spcAft>
                <a:spcPts val="700"/>
              </a:spcAft>
              <a:defRPr sz="1500">
                <a:solidFill>
                  <a:srgbClr val="14181E"/>
                </a:solidFill>
                <a:latin typeface="Microsoft YaHei"/>
              </a:defRPr>
            </a:pPr>
            <a:r>
              <a:t>说明模型对新受试者的 2/3 边界过于保守。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16752" y="5138928"/>
            <a:ext cx="48006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16752" y="5138928"/>
            <a:ext cx="73152" cy="777240"/>
          </a:xfrm>
          <a:prstGeom prst="rect">
            <a:avLst/>
          </a:prstGeom>
          <a:solidFill>
            <a:srgbClr val="C14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9632" y="5266944"/>
            <a:ext cx="448056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400" b="1">
                <a:solidFill>
                  <a:srgbClr val="1C2637"/>
                </a:solidFill>
                <a:latin typeface="Microsoft YaHei UI"/>
              </a:rPr>
              <a:t>对答辩最重要的解释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9632" y="5641848"/>
            <a:ext cx="4480560" cy="182879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150" b="0">
                <a:solidFill>
                  <a:srgbClr val="5F6976"/>
                </a:solidFill>
                <a:latin typeface="Microsoft YaHei"/>
              </a:rPr>
              <a:t>这不是“模型完全不会分”，而是训练分布到隐藏受试者之间发生了边界偏移。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52760" y="6446520"/>
            <a:ext cx="96012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F6976"/>
                </a:solidFill>
                <a:latin typeface="Microsoft YaHei"/>
              </a:rPr>
              <a:t>6/10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46520"/>
            <a:ext cx="438912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5F6976"/>
                </a:solidFill>
                <a:latin typeface="Microsoft YaHei"/>
              </a:rPr>
              <a:t>双通道 sEMG 肩部动作识别 | 答辩展示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966960" cy="56692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1C2637"/>
                </a:solidFill>
                <a:latin typeface="Microsoft YaHei UI"/>
              </a:rPr>
              <a:t>加入新受试者后，简单稳健模型超过复杂模型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78992"/>
            <a:ext cx="1170432" cy="45720"/>
          </a:xfrm>
          <a:prstGeom prst="rect">
            <a:avLst/>
          </a:prstGeom>
          <a:solidFill>
            <a:srgbClr val="DC7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etrics_ver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5257800" cy="3474720"/>
          </a:xfrm>
          <a:prstGeom prst="rect">
            <a:avLst/>
          </a:prstGeom>
        </p:spPr>
      </p:pic>
      <p:pic>
        <p:nvPicPr>
          <p:cNvPr id="5" name="Picture 4" descr="f1_vers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234440"/>
            <a:ext cx="4800600" cy="347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166360"/>
            <a:ext cx="1024128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1C2637"/>
                </a:solidFill>
                <a:latin typeface="Microsoft YaHei UI"/>
              </a:rPr>
              <a:t>关键发现：With2_LR（RobustScaler + Logistic Regression）达到 Macro F1 0.705，是复盘中最稳的单模型。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59552"/>
            <a:ext cx="969264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14181E"/>
                </a:solidFill>
                <a:latin typeface="Microsoft YaHei"/>
              </a:defRPr>
            </a:pPr>
            <a:r>
              <a:t>RF 和简单 Ensemble 在内部看似更强，但隐藏集上容易学到局部边界；小样本跨受试者任务更需要稳定决策边界。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446520"/>
            <a:ext cx="96012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F6976"/>
                </a:solidFill>
                <a:latin typeface="Microsoft YaHei"/>
              </a:rPr>
              <a:t>7/10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46520"/>
            <a:ext cx="438912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5F6976"/>
                </a:solidFill>
                <a:latin typeface="Microsoft YaHei"/>
              </a:rPr>
              <a:t>双通道 sEMG 肩部动作识别 | 答辩展示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966960" cy="56692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1C2637"/>
                </a:solidFill>
                <a:latin typeface="Microsoft YaHei UI"/>
              </a:rPr>
              <a:t>真正难的是推肩，因为它在双通道幅值上像前平举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78992"/>
            <a:ext cx="1170432" cy="45720"/>
          </a:xfrm>
          <a:prstGeom prst="rect">
            <a:avLst/>
          </a:prstGeom>
          <a:solidFill>
            <a:srgbClr val="DC7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m_with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4617720" cy="3246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0" y="1444752"/>
            <a:ext cx="516636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1C2637"/>
                </a:solidFill>
                <a:latin typeface="Microsoft YaHei UI"/>
              </a:rPr>
              <a:t>With2_LR 修正了部分侧平举，但推肩仍是瓶颈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42432" y="1993392"/>
            <a:ext cx="5074920" cy="1143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450">
                <a:solidFill>
                  <a:srgbClr val="14181E"/>
                </a:solidFill>
                <a:latin typeface="Microsoft YaHei"/>
              </a:defRPr>
            </a:pPr>
            <a:r>
              <a:t>侧平举：CH2/CH1 较高，加入新数据后明显改善。</a:t>
            </a:r>
          </a:p>
          <a:p>
            <a:pPr>
              <a:spcAft>
                <a:spcPts val="700"/>
              </a:spcAft>
              <a:defRPr sz="1450">
                <a:solidFill>
                  <a:srgbClr val="14181E"/>
                </a:solidFill>
                <a:latin typeface="Microsoft YaHei"/>
              </a:defRPr>
            </a:pPr>
            <a:r>
              <a:t>推肩：CH2/CH1 低，与前平举同向，仍有 8/12 被判为 1。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42432" y="3520440"/>
            <a:ext cx="48920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42432" y="3520440"/>
            <a:ext cx="73152" cy="960120"/>
          </a:xfrm>
          <a:prstGeom prst="rect">
            <a:avLst/>
          </a:prstGeom>
          <a:solidFill>
            <a:srgbClr val="C14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25312" y="3648456"/>
            <a:ext cx="457200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400" b="1">
                <a:solidFill>
                  <a:srgbClr val="1C2637"/>
                </a:solidFill>
                <a:latin typeface="Microsoft YaHei UI"/>
              </a:rPr>
              <a:t>模型层面的含义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5312" y="4023360"/>
            <a:ext cx="4572000" cy="36576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150" b="0">
                <a:solidFill>
                  <a:srgbClr val="5F6976"/>
                </a:solidFill>
                <a:latin typeface="Microsoft YaHei"/>
              </a:rPr>
              <a:t>单纯换更复杂模型不一定解决，因为当前特征没有充分描述推肩的时间结构。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42432" y="4800600"/>
            <a:ext cx="48920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42432" y="4800600"/>
            <a:ext cx="73152" cy="960120"/>
          </a:xfrm>
          <a:prstGeom prst="rect">
            <a:avLst/>
          </a:prstGeom>
          <a:solidFill>
            <a:srgbClr val="DC7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25312" y="4928616"/>
            <a:ext cx="457200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400" b="1">
                <a:solidFill>
                  <a:srgbClr val="1C2637"/>
                </a:solidFill>
                <a:latin typeface="Microsoft YaHei UI"/>
              </a:rPr>
              <a:t>信号层面的含义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25312" y="5303520"/>
            <a:ext cx="4572000" cy="36576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150" b="0">
                <a:solidFill>
                  <a:srgbClr val="5F6976"/>
                </a:solidFill>
                <a:latin typeface="Microsoft YaHei"/>
              </a:rPr>
              <a:t>下一步应加入峰值相位、上升/下降段、包络多峰性、通道滞后等周期内形态特征。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52760" y="6446520"/>
            <a:ext cx="96012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F6976"/>
                </a:solidFill>
                <a:latin typeface="Microsoft YaHei"/>
              </a:rPr>
              <a:t>8/10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46520"/>
            <a:ext cx="438912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5F6976"/>
                </a:solidFill>
                <a:latin typeface="Microsoft YaHei"/>
              </a:rPr>
              <a:t>双通道 sEMG 肩部动作识别 | 答辩展示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966960" cy="56692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1C2637"/>
                </a:solidFill>
                <a:latin typeface="Microsoft YaHei UI"/>
              </a:rPr>
              <a:t>这个项目的价值在于能运行、能解释、能继续改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78992"/>
            <a:ext cx="1170432" cy="45720"/>
          </a:xfrm>
          <a:prstGeom prst="rect">
            <a:avLst/>
          </a:prstGeom>
          <a:solidFill>
            <a:srgbClr val="DC7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1627632" cy="694944"/>
          </a:xfrm>
          <a:prstGeom prst="roundRect">
            <a:avLst/>
          </a:prstGeom>
          <a:solidFill>
            <a:srgbClr val="1C2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 UI"/>
              </a:rPr>
              <a:t>上传 .mat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377440" y="1636776"/>
            <a:ext cx="237744" cy="228600"/>
          </a:xfrm>
          <a:prstGeom prst="rightArrow">
            <a:avLst/>
          </a:prstGeom>
          <a:solidFill>
            <a:srgbClr val="DF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87752" y="1417320"/>
            <a:ext cx="1627632" cy="694944"/>
          </a:xfrm>
          <a:prstGeom prst="roundRect">
            <a:avLst/>
          </a:prstGeom>
          <a:solidFill>
            <a:srgbClr val="117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 UI"/>
              </a:rPr>
              <a:t>自动滤波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187952" y="1636776"/>
            <a:ext cx="237744" cy="228600"/>
          </a:xfrm>
          <a:prstGeom prst="rightArrow">
            <a:avLst/>
          </a:prstGeom>
          <a:solidFill>
            <a:srgbClr val="DF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98264" y="1417320"/>
            <a:ext cx="1627632" cy="694944"/>
          </a:xfrm>
          <a:prstGeom prst="roundRect">
            <a:avLst/>
          </a:prstGeom>
          <a:solidFill>
            <a:srgbClr val="DC7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 UI"/>
              </a:rPr>
              <a:t>周期检测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98464" y="1636776"/>
            <a:ext cx="237744" cy="228600"/>
          </a:xfrm>
          <a:prstGeom prst="rightArrow">
            <a:avLst/>
          </a:prstGeom>
          <a:solidFill>
            <a:srgbClr val="DF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08775" y="1417320"/>
            <a:ext cx="1627632" cy="694944"/>
          </a:xfrm>
          <a:prstGeom prst="roundRect">
            <a:avLst/>
          </a:prstGeom>
          <a:solidFill>
            <a:srgbClr val="117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 UI"/>
              </a:rPr>
              <a:t>特征表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808975" y="1636776"/>
            <a:ext cx="237744" cy="228600"/>
          </a:xfrm>
          <a:prstGeom prst="rightArrow">
            <a:avLst/>
          </a:prstGeom>
          <a:solidFill>
            <a:srgbClr val="DF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19288" y="1417320"/>
            <a:ext cx="1627632" cy="694944"/>
          </a:xfrm>
          <a:prstGeom prst="roundRect">
            <a:avLst/>
          </a:prstGeom>
          <a:solidFill>
            <a:srgbClr val="3D8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 UI"/>
              </a:rPr>
              <a:t>分类输出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619488" y="1636776"/>
            <a:ext cx="237744" cy="228600"/>
          </a:xfrm>
          <a:prstGeom prst="rightArrow">
            <a:avLst/>
          </a:prstGeom>
          <a:solidFill>
            <a:srgbClr val="DF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829800" y="1417320"/>
            <a:ext cx="1627632" cy="694944"/>
          </a:xfrm>
          <a:prstGeom prst="roundRect">
            <a:avLst/>
          </a:prstGeom>
          <a:solidFill>
            <a:srgbClr val="C14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 UI"/>
              </a:rPr>
              <a:t>错误解释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2743200"/>
            <a:ext cx="31089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2743200"/>
            <a:ext cx="73152" cy="1325880"/>
          </a:xfrm>
          <a:prstGeom prst="rect">
            <a:avLst/>
          </a:prstGeom>
          <a:solidFill>
            <a:srgbClr val="117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871216"/>
            <a:ext cx="278892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400" b="1">
                <a:solidFill>
                  <a:srgbClr val="1C2637"/>
                </a:solidFill>
                <a:latin typeface="Microsoft YaHei UI"/>
              </a:rPr>
              <a:t>能运行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246120"/>
            <a:ext cx="2788920" cy="731519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150" b="0">
                <a:solidFill>
                  <a:srgbClr val="5F6976"/>
                </a:solidFill>
                <a:latin typeface="Microsoft YaHei"/>
              </a:rPr>
              <a:t>Streamlit Demo 支持上传 .mat 并自动完成分析。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26280" y="2743200"/>
            <a:ext cx="31089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26280" y="2743200"/>
            <a:ext cx="73152" cy="1325880"/>
          </a:xfrm>
          <a:prstGeom prst="rect">
            <a:avLst/>
          </a:prstGeom>
          <a:solidFill>
            <a:srgbClr val="DC7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9160" y="2871216"/>
            <a:ext cx="278892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400" b="1">
                <a:solidFill>
                  <a:srgbClr val="1C2637"/>
                </a:solidFill>
                <a:latin typeface="Microsoft YaHei UI"/>
              </a:rPr>
              <a:t>能解释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3246120"/>
            <a:ext cx="2788920" cy="731519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150" b="0">
                <a:solidFill>
                  <a:srgbClr val="5F6976"/>
                </a:solidFill>
                <a:latin typeface="Microsoft YaHei"/>
              </a:rPr>
              <a:t>周期边界、特征表、模型投票和置信度都可以追溯。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2743200"/>
            <a:ext cx="31089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2743200"/>
            <a:ext cx="73152" cy="1325880"/>
          </a:xfrm>
          <a:prstGeom prst="rect">
            <a:avLst/>
          </a:prstGeom>
          <a:solidFill>
            <a:srgbClr val="3D8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2871216"/>
            <a:ext cx="278892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400" b="1">
                <a:solidFill>
                  <a:srgbClr val="1C2637"/>
                </a:solidFill>
                <a:latin typeface="Microsoft YaHei UI"/>
              </a:rPr>
              <a:t>能继续改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246120"/>
            <a:ext cx="2788920" cy="731519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150" b="0">
                <a:solidFill>
                  <a:srgbClr val="5F6976"/>
                </a:solidFill>
                <a:latin typeface="Microsoft YaHei"/>
              </a:rPr>
              <a:t>错误能回到信号和采集假设上，而不是停留在分数。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" y="4892040"/>
            <a:ext cx="10104120" cy="36576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1C2637"/>
                </a:solidFill>
                <a:latin typeface="Microsoft YaHei UI"/>
              </a:rPr>
              <a:t>改进路线：先修事件检测稳定性，再补周期内时序/形态特征，最后选择简单可解释的单模型做提交。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52760" y="6446520"/>
            <a:ext cx="96012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F6976"/>
                </a:solidFill>
                <a:latin typeface="Microsoft YaHei"/>
              </a:rPr>
              <a:t>9/10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446520"/>
            <a:ext cx="438912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5F6976"/>
                </a:solidFill>
                <a:latin typeface="Microsoft YaHei"/>
              </a:rPr>
              <a:t>双通道 sEMG 肩部动作识别 | 答辩展示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966960" cy="56692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1C2637"/>
                </a:solidFill>
                <a:latin typeface="Microsoft YaHei UI"/>
              </a:rPr>
              <a:t>我们的关键收获是：模型错误本身也能提供信号知识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78992"/>
            <a:ext cx="1170432" cy="45720"/>
          </a:xfrm>
          <a:prstGeom prst="rect">
            <a:avLst/>
          </a:prstGeom>
          <a:solidFill>
            <a:srgbClr val="DC7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1417320"/>
            <a:ext cx="438912" cy="438912"/>
          </a:xfrm>
          <a:prstGeom prst="ellipse">
            <a:avLst/>
          </a:prstGeom>
          <a:solidFill>
            <a:srgbClr val="117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 U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1453896"/>
            <a:ext cx="9052560" cy="329184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14181E"/>
                </a:solidFill>
                <a:latin typeface="Microsoft YaHei UI"/>
              </a:rPr>
              <a:t>完成了从 .mat 到动作识别结果的全流程系统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203704"/>
            <a:ext cx="438912" cy="438912"/>
          </a:xfrm>
          <a:prstGeom prst="ellipse">
            <a:avLst/>
          </a:prstGeom>
          <a:solidFill>
            <a:srgbClr val="DC7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 U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240280"/>
            <a:ext cx="9052560" cy="329184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14181E"/>
                </a:solidFill>
                <a:latin typeface="Microsoft YaHei UI"/>
              </a:rPr>
              <a:t>侧平举主要由 CH2/CH1 激活比值区分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990088"/>
            <a:ext cx="438912" cy="438912"/>
          </a:xfrm>
          <a:prstGeom prst="ellipse">
            <a:avLst/>
          </a:prstGeom>
          <a:solidFill>
            <a:srgbClr val="C14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 U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3026664"/>
            <a:ext cx="9052560" cy="329184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14181E"/>
                </a:solidFill>
                <a:latin typeface="Microsoft YaHei UI"/>
              </a:rPr>
              <a:t>推肩和前平举在双通道幅值上重叠，是主要瓶颈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776472"/>
            <a:ext cx="438912" cy="438912"/>
          </a:xfrm>
          <a:prstGeom prst="ellipse">
            <a:avLst/>
          </a:prstGeom>
          <a:solidFill>
            <a:srgbClr val="3D8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 U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813048"/>
            <a:ext cx="9052560" cy="329184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14181E"/>
                </a:solidFill>
                <a:latin typeface="Microsoft YaHei UI"/>
              </a:rPr>
              <a:t>新受试者数据提升泛化，但复杂模型不一定更好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4562856"/>
            <a:ext cx="438912" cy="438912"/>
          </a:xfrm>
          <a:prstGeom prst="ellipse">
            <a:avLst/>
          </a:prstGeom>
          <a:solidFill>
            <a:srgbClr val="1C2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 U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4599432"/>
            <a:ext cx="9052560" cy="329184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14181E"/>
                </a:solidFill>
                <a:latin typeface="Microsoft YaHei UI"/>
              </a:rPr>
              <a:t>后续重点应从“模型更复杂”转向“特征更贴近动作生理”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650992"/>
            <a:ext cx="100126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5650992"/>
            <a:ext cx="73152" cy="658368"/>
          </a:xfrm>
          <a:prstGeom prst="rect">
            <a:avLst/>
          </a:prstGeom>
          <a:solidFill>
            <a:srgbClr val="117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779007"/>
            <a:ext cx="969264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400" b="1">
                <a:solidFill>
                  <a:srgbClr val="1C2637"/>
                </a:solidFill>
                <a:latin typeface="Microsoft YaHei UI"/>
              </a:rPr>
              <a:t>收束句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6153912"/>
            <a:ext cx="9692640" cy="64007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150" b="0">
                <a:solidFill>
                  <a:srgbClr val="5F6976"/>
                </a:solidFill>
                <a:latin typeface="Microsoft YaHei"/>
              </a:rPr>
              <a:t>模型不是最完美的，但我们完成了完整链路，并从错误里提炼出了可继续验证的信号处理问题。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52760" y="6446520"/>
            <a:ext cx="96012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F6976"/>
                </a:solidFill>
                <a:latin typeface="Microsoft YaHei"/>
              </a:rPr>
              <a:t>10/10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438912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5F6976"/>
                </a:solidFill>
                <a:latin typeface="Microsoft YaHei"/>
              </a:rPr>
              <a:t>双通道 sEMG 肩部动作识别 | 答辩展示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